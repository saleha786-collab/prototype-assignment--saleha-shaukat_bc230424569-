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Nuni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Nunito-bold.fntdata"/><Relationship Id="rId27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c6f83aa9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c6f83aa9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c6f83aa9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c6f83aa9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1785161e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41785161e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1785161e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41785161e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c6f83aa9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c6f83aa9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35a435c724_0_1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35a435c724_0_1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35a435c724_0_1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35a435c724_0_1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35a435c724_0_1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35a435c724_0_1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35a435c724_0_1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35a435c724_0_1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41785161e5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41785161e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35a435c724_0_1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35a435c724_0_1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35a435c724_0_1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35a435c724_0_1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46f1aef4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546f1aef4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35a435c724_0_1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35a435c724_0_1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35a435c724_0_1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35a435c724_0_1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54cf740b2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54cf740b2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54cf740b2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54cf740b2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35a435c724_0_1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35a435c724_0_1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35a435c724_0_1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35a435c724_0_1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c6f83aa91_0_7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c6f83aa91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Saleha786-collab/Prototype-Assignment--Saleha-Shaukat_BC230424569-.gi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494250" y="1423650"/>
            <a:ext cx="64476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4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NLP Chatbot Development using Dialogflow</a:t>
            </a:r>
            <a:endParaRPr sz="4644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91350" y="2358619"/>
            <a:ext cx="5361300" cy="8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en" sz="14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lang="en" sz="14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Saleha Shaukat</a:t>
            </a:r>
            <a:endParaRPr sz="14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" sz="1440">
                <a:solidFill>
                  <a:srgbClr val="212529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Group ID: F24PROJECT38A67</a:t>
            </a:r>
            <a:r>
              <a:rPr lang="en" sz="1440">
                <a:solidFill>
                  <a:srgbClr val="212529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 (BC230424569)</a:t>
            </a:r>
            <a:endParaRPr sz="1440">
              <a:solidFill>
                <a:srgbClr val="212529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440">
              <a:solidFill>
                <a:srgbClr val="212529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1238150" y="1296625"/>
            <a:ext cx="6741300" cy="164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6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 link:       </a:t>
            </a:r>
            <a:r>
              <a:rPr lang="en" sz="164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https://github.com/Saleha786-collab/Prototype-Assignment--Saleha-Shaukat_BC230424569-.git</a:t>
            </a:r>
            <a:endParaRPr sz="16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90"/>
              <a:buNone/>
            </a:pPr>
            <a:r>
              <a:rPr b="1" lang="en" sz="16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Supervisor:</a:t>
            </a:r>
            <a:r>
              <a:rPr lang="en" sz="16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Abdullah Qamar</a:t>
            </a:r>
            <a:endParaRPr sz="16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>
            <p:ph type="title"/>
          </p:nvPr>
        </p:nvSpPr>
        <p:spPr>
          <a:xfrm>
            <a:off x="749100" y="6136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1: </a:t>
            </a: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Introduction:</a:t>
            </a:r>
            <a:endParaRPr sz="2400"/>
          </a:p>
        </p:txBody>
      </p:sp>
      <p:sp>
        <p:nvSpPr>
          <p:cNvPr id="140" name="Google Shape;140;p15"/>
          <p:cNvSpPr txBox="1"/>
          <p:nvPr>
            <p:ph idx="1" type="body"/>
          </p:nvPr>
        </p:nvSpPr>
        <p:spPr>
          <a:xfrm>
            <a:off x="821825" y="1225350"/>
            <a:ext cx="7738800" cy="31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chatbot is designed to enhance customer service for a restaurant by automating responses to common customer inquiries, reducing wait times, and providing real-time order updates and product information.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Scope: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Features: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Greeting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Order Status Check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Product-Related FAQs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Ticket Creation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Conversation Closure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Authentication and Authorization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Profile Management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>
            <p:ph type="title"/>
          </p:nvPr>
        </p:nvSpPr>
        <p:spPr>
          <a:xfrm>
            <a:off x="749100" y="6136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2: Explanation of Features</a:t>
            </a:r>
            <a:endParaRPr sz="2400"/>
          </a:p>
        </p:txBody>
      </p:sp>
      <p:sp>
        <p:nvSpPr>
          <p:cNvPr id="146" name="Google Shape;146;p16"/>
          <p:cNvSpPr txBox="1"/>
          <p:nvPr>
            <p:ph idx="1" type="body"/>
          </p:nvPr>
        </p:nvSpPr>
        <p:spPr>
          <a:xfrm>
            <a:off x="749100" y="1290800"/>
            <a:ext cx="7738800" cy="31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Greeting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chatbot greets users with a friendly message to set a welcoming tone for the conversation.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Order Status Check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Users can check their order status in real-time, with updates on delivery or pickup times for better transparency.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Product-Related FAQs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chatbot answers common questions about the product stock and product price,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providing quick and easy information.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Ticket Creation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7"/>
          <p:cNvSpPr txBox="1"/>
          <p:nvPr>
            <p:ph idx="1" type="body"/>
          </p:nvPr>
        </p:nvSpPr>
        <p:spPr>
          <a:xfrm>
            <a:off x="638375" y="913350"/>
            <a:ext cx="7505700" cy="36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For complex issues, users can create support tickets that are escalated to human agents for further assistance.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Conversation Closure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The chatbot politely ends conversations, ensuring users feel satisfied and informed before closing the interaction.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Authentication and Authorization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Users will register and log in, with role-based access control to provide different user types with appropriate permissions.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Profile Management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Users can manage their profiles (view and update personal information), and the chatbot will retrieve relevant user data based on their profile.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/>
          <p:nvPr>
            <p:ph type="title"/>
          </p:nvPr>
        </p:nvSpPr>
        <p:spPr>
          <a:xfrm>
            <a:off x="64590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3: Database Schema</a:t>
            </a:r>
            <a:endParaRPr sz="2400"/>
          </a:p>
        </p:txBody>
      </p:sp>
      <p:sp>
        <p:nvSpPr>
          <p:cNvPr id="158" name="Google Shape;158;p18"/>
          <p:cNvSpPr txBox="1"/>
          <p:nvPr>
            <p:ph idx="2" type="body"/>
          </p:nvPr>
        </p:nvSpPr>
        <p:spPr>
          <a:xfrm>
            <a:off x="466325" y="1550600"/>
            <a:ext cx="5539200" cy="25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Overview: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database is structured to support multiple functionalities.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Tables: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Users, Orders, Products, Support Tickets.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Constraints: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Ensure data consistency and proper relationships.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Relationship Explanation: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Describes how the tables link (e.g., Orders linked to Users, Products linked to Orders).</a:t>
            </a:r>
            <a:endParaRPr/>
          </a:p>
        </p:txBody>
      </p:sp>
      <p:pic>
        <p:nvPicPr>
          <p:cNvPr id="159" name="Google Shape;15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8275" y="927700"/>
            <a:ext cx="2774594" cy="3288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3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4: Dialog flow Integration </a:t>
            </a:r>
            <a:endParaRPr sz="253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9"/>
          <p:cNvSpPr txBox="1"/>
          <p:nvPr>
            <p:ph idx="2" type="body"/>
          </p:nvPr>
        </p:nvSpPr>
        <p:spPr>
          <a:xfrm>
            <a:off x="819150" y="170630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Intents and Entities: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Intents: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Group user queries (e.g., order status, product inquiry).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Entities: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Extract specific details (e.g., product name, order ID).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Flow Design: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user input is mapped to chatbot actions.</a:t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>
            <p:ph type="title"/>
          </p:nvPr>
        </p:nvSpPr>
        <p:spPr>
          <a:xfrm>
            <a:off x="667175" y="738850"/>
            <a:ext cx="5487600" cy="9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5: Chatbot Flow - Greeting &amp; Onboarding</a:t>
            </a:r>
            <a:endParaRPr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0"/>
          <p:cNvSpPr txBox="1"/>
          <p:nvPr>
            <p:ph idx="2" type="body"/>
          </p:nvPr>
        </p:nvSpPr>
        <p:spPr>
          <a:xfrm>
            <a:off x="556475" y="1719325"/>
            <a:ext cx="5391600" cy="21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Inputs:</a:t>
            </a: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“Hello,” “Hi,” “Hey”</a:t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Chatbot Response:</a:t>
            </a: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“Hello! Welcome to [Restaurant Name]. How can I assist you today?”</a:t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Logic/Condition:</a:t>
            </a: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If no input after a few seconds, prompt user again.</a:t>
            </a:r>
            <a:endParaRPr sz="52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72" name="Google Shape;17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8225" y="415150"/>
            <a:ext cx="2657775" cy="3997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type="title"/>
          </p:nvPr>
        </p:nvSpPr>
        <p:spPr>
          <a:xfrm>
            <a:off x="819150" y="845600"/>
            <a:ext cx="74541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6: Chatbot Flow - Main Menu / Intent Identification</a:t>
            </a:r>
            <a:endParaRPr b="1" sz="222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1"/>
          <p:cNvSpPr txBox="1"/>
          <p:nvPr>
            <p:ph idx="2" type="body"/>
          </p:nvPr>
        </p:nvSpPr>
        <p:spPr>
          <a:xfrm>
            <a:off x="819150" y="1706300"/>
            <a:ext cx="5859900" cy="19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2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Inputs:</a:t>
            </a:r>
            <a:r>
              <a:rPr lang="en" sz="172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“I want to check my order status,” “Product price?”</a:t>
            </a:r>
            <a:endParaRPr sz="172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2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Chatbot Response:</a:t>
            </a:r>
            <a:r>
              <a:rPr lang="en" sz="172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Requests order ID or product details.</a:t>
            </a:r>
            <a:endParaRPr sz="172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2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Logic:</a:t>
            </a:r>
            <a:r>
              <a:rPr lang="en" sz="172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Identifies the user's intent and routes them to the relevant flow (Order Status, Product Info, Support).</a:t>
            </a:r>
            <a:endParaRPr sz="172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/>
          <p:nvPr>
            <p:ph type="title"/>
          </p:nvPr>
        </p:nvSpPr>
        <p:spPr>
          <a:xfrm>
            <a:off x="794525" y="492500"/>
            <a:ext cx="74541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7: Order Status Flow</a:t>
            </a:r>
            <a:endParaRPr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2"/>
          <p:cNvSpPr txBox="1"/>
          <p:nvPr>
            <p:ph idx="2" type="body"/>
          </p:nvPr>
        </p:nvSpPr>
        <p:spPr>
          <a:xfrm>
            <a:off x="684625" y="1139725"/>
            <a:ext cx="5394900" cy="35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Possible Inputs:</a:t>
            </a:r>
            <a:endParaRPr b="1"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“I want to check my order status.”</a:t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“Where is my order?”</a:t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“My order is delayed.”</a:t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“Order status?”</a:t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Asks for Details</a:t>
            </a:r>
            <a:endParaRPr b="1"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</a:t>
            </a: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“Sure! Let me check your order status. Could you please provide your Order ID or email address associated with the order?”</a:t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Fetches and Displays Order Status</a:t>
            </a:r>
            <a:endParaRPr b="1"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chatbot uses the provided </a:t>
            </a:r>
            <a:r>
              <a:rPr b="1"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Order ID</a:t>
            </a: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email address</a:t>
            </a: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retrieve order information from the database.</a:t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</a:t>
            </a:r>
            <a:r>
              <a:rPr lang="en" sz="5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“Your order is currently [Order Status]. Expected delivery time is [Time]. Is there anything else I can help you with?”</a:t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22"/>
          <p:cNvPicPr preferRelativeResize="0"/>
          <p:nvPr/>
        </p:nvPicPr>
        <p:blipFill rotWithShape="1">
          <a:blip r:embed="rId3">
            <a:alphaModFix/>
          </a:blip>
          <a:srcRect b="0" l="-12422" r="0" t="0"/>
          <a:stretch/>
        </p:blipFill>
        <p:spPr>
          <a:xfrm>
            <a:off x="5816675" y="607175"/>
            <a:ext cx="2791750" cy="379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3"/>
          <p:cNvSpPr txBox="1"/>
          <p:nvPr>
            <p:ph idx="1" type="body"/>
          </p:nvPr>
        </p:nvSpPr>
        <p:spPr>
          <a:xfrm>
            <a:off x="638375" y="913350"/>
            <a:ext cx="7633500" cy="36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User's Response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Option 1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 the conversation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“No, that’s all.”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“Thank you for using our service! Have a great day.”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Option 2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Ask another question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“I have another question.”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Routes the conversation to the appropriate flow (e.g.,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Inquiry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Ticket Creation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/>
          <p:nvPr>
            <p:ph type="title"/>
          </p:nvPr>
        </p:nvSpPr>
        <p:spPr>
          <a:xfrm>
            <a:off x="819150" y="474625"/>
            <a:ext cx="48498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8: Product Information Flow</a:t>
            </a:r>
            <a:endParaRPr sz="2400"/>
          </a:p>
        </p:txBody>
      </p:sp>
      <p:sp>
        <p:nvSpPr>
          <p:cNvPr id="197" name="Google Shape;197;p24"/>
          <p:cNvSpPr txBox="1"/>
          <p:nvPr>
            <p:ph idx="1" type="body"/>
          </p:nvPr>
        </p:nvSpPr>
        <p:spPr>
          <a:xfrm>
            <a:off x="778150" y="948825"/>
            <a:ext cx="4816800" cy="3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Possible Inputs: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“I have a question about a product.”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“Is product X in stock?”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”How much is product Y?”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Requests Product Details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"Which product would you like to know more about?"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Specifies Product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"I want to know if the [Product Name] is in stock."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Fetches Product Data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In Stock: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8350" y="1047350"/>
            <a:ext cx="2384876" cy="368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/>
          <p:nvPr>
            <p:ph type="title"/>
          </p:nvPr>
        </p:nvSpPr>
        <p:spPr>
          <a:xfrm>
            <a:off x="819150" y="2026200"/>
            <a:ext cx="7505700" cy="24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4: Confirmation &amp; Next Step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Possible User Responses: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■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Yes, add to my cart: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"Great! It’s in your cart. Anything else you need?" → Return to Main Menu or end conversation.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■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No, just checking: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"Understood. Anything else I can help you with?" → Return to Main Menu.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5"/>
          <p:cNvSpPr txBox="1"/>
          <p:nvPr/>
        </p:nvSpPr>
        <p:spPr>
          <a:xfrm>
            <a:off x="879750" y="679550"/>
            <a:ext cx="7132500" cy="1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Bot:</a:t>
            </a:r>
            <a:r>
              <a:rPr lang="en" sz="1300"/>
              <a:t> "The [Product Name] is currently available/in stock. It costs [Price]. Would you like to add it to your cart?"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If Out of Stock:</a:t>
            </a:r>
            <a:endParaRPr b="1" sz="1300"/>
          </a:p>
          <a:p>
            <a:pPr indent="-3111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Bot:</a:t>
            </a:r>
            <a:r>
              <a:rPr lang="en" sz="1300"/>
              <a:t> "Currently, the [Product Name] is out of stock. Would you like me to notify you when it’s back?"</a:t>
            </a:r>
            <a:endParaRPr sz="1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 txBox="1"/>
          <p:nvPr>
            <p:ph idx="1" type="body"/>
          </p:nvPr>
        </p:nvSpPr>
        <p:spPr>
          <a:xfrm>
            <a:off x="553225" y="528250"/>
            <a:ext cx="7825200" cy="40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9: Check different menu options:</a:t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Possible Inputs: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i see your menu?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want to see your menu?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Chatbot Response: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Chatbot display different menu options and ask from user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which menu they wants to see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confirming from users bot displays the menu.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1276" y="880850"/>
            <a:ext cx="2026076" cy="305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/>
          <p:nvPr>
            <p:ph type="title"/>
          </p:nvPr>
        </p:nvSpPr>
        <p:spPr>
          <a:xfrm>
            <a:off x="819150" y="4760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9: Technical Support Flow</a:t>
            </a:r>
            <a:endParaRPr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7"/>
          <p:cNvSpPr txBox="1"/>
          <p:nvPr>
            <p:ph idx="1" type="body"/>
          </p:nvPr>
        </p:nvSpPr>
        <p:spPr>
          <a:xfrm>
            <a:off x="630850" y="977325"/>
            <a:ext cx="5185800" cy="3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Possible Inputs: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“My device is not working.”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“I need help with my account.”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“I have a technical issue.”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Gathers Issue Details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"Could you please describe the issue you're facing?"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Describes the Issue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"My device won’t turn on."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Troubleshoots or Escalates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"I’m sorry to hear that. Let’s try some basic troubleshooting steps. Have you tried resetting the device by holding the power button for 10 seconds?"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218" name="Google Shape;21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5475" y="581025"/>
            <a:ext cx="2766001" cy="412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8"/>
          <p:cNvSpPr txBox="1"/>
          <p:nvPr>
            <p:ph idx="1" type="body"/>
          </p:nvPr>
        </p:nvSpPr>
        <p:spPr>
          <a:xfrm>
            <a:off x="553225" y="913350"/>
            <a:ext cx="7825200" cy="36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Response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Resolved: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"Thanks, it works now!"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"Glad to hear! Anything else I can help with?" → Return to Main Menu or end conversation.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"Glad to hear! Anything else I can help with?" → Return to Main Menu or end conversation.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 Not Resolved: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"Still not working."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"I’ll create a support ticket for further assistance. Can you confirm your email address and preferred contact method?"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Bot Confirms Ticket Creation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"Your ticket has been created. Our support team will reach out within 24 hours. Is there anything else you need?" → Return to Main Menu or end conversation.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9"/>
          <p:cNvSpPr txBox="1"/>
          <p:nvPr>
            <p:ph idx="1" type="body"/>
          </p:nvPr>
        </p:nvSpPr>
        <p:spPr>
          <a:xfrm>
            <a:off x="553225" y="496700"/>
            <a:ext cx="7825200" cy="4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10: Table Reservation</a:t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says they want to book a table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Example: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“I want to reserve a table.”</a:t>
            </a:r>
            <a:b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asks questions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What date?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What time?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How many people?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answers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Example: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“26 March, 6pm, 2 people.”</a:t>
            </a:r>
            <a:b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checks if the info is correct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Checks date, time, and number of guests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saves the booking in the database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gives a confirmation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Example: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“Your table is booked for 2 people on 26 March at 6pm.”</a:t>
            </a:r>
            <a:endParaRPr i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8900" y="609475"/>
            <a:ext cx="2379774" cy="357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0"/>
          <p:cNvSpPr txBox="1"/>
          <p:nvPr>
            <p:ph idx="1" type="body"/>
          </p:nvPr>
        </p:nvSpPr>
        <p:spPr>
          <a:xfrm>
            <a:off x="553225" y="528250"/>
            <a:ext cx="7825200" cy="40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11: Order taking flow</a:t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says they want to order something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Example: “I want to order mango juice.”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asks for quantity (if missing)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“How many units would you like?”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tells the quantity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Example: “2”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checks product availability in the database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If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available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continue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If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 of stock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inform the user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saves the order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Creates a new order with product and quantity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confirms the order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Example: “Your order for 2 mango juice is confirmed. Order ID: 7”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5078" y="609000"/>
            <a:ext cx="2690825" cy="39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/>
          <p:nvPr>
            <p:ph type="title"/>
          </p:nvPr>
        </p:nvSpPr>
        <p:spPr>
          <a:xfrm>
            <a:off x="658975" y="415625"/>
            <a:ext cx="5543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Slide 12: Closing Conversation Flow</a:t>
            </a:r>
            <a:endParaRPr b="1"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1"/>
          <p:cNvSpPr txBox="1"/>
          <p:nvPr>
            <p:ph idx="1" type="body"/>
          </p:nvPr>
        </p:nvSpPr>
        <p:spPr>
          <a:xfrm>
            <a:off x="713700" y="1011500"/>
            <a:ext cx="4536300" cy="37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Possible Inputs: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"Bye"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"No, thank you"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"That’s all"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Chatbot Response: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"Thank you for chatting with us today! Have a great day!"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Logic/Condition: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the user explicitly says goodbye or indicates no further questions, the chatbot will end the conversation gracefully.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5" name="Google Shape;24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5875" y="906375"/>
            <a:ext cx="2529050" cy="3810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2"/>
          <p:cNvSpPr txBox="1"/>
          <p:nvPr>
            <p:ph type="title"/>
          </p:nvPr>
        </p:nvSpPr>
        <p:spPr>
          <a:xfrm>
            <a:off x="773950" y="514175"/>
            <a:ext cx="52644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Slide 13: Error Handling &amp; Fallbacks</a:t>
            </a:r>
            <a:endParaRPr sz="2466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2"/>
          <p:cNvSpPr txBox="1"/>
          <p:nvPr>
            <p:ph idx="1" type="body"/>
          </p:nvPr>
        </p:nvSpPr>
        <p:spPr>
          <a:xfrm>
            <a:off x="713700" y="1167500"/>
            <a:ext cx="57762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Unrecognized Input: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“Sorry, I didn’t understand. Could you rephrase?”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 Intents Detected: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Clarify which question to address first.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Invalid Input: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Handle misformatted data (e.g., invalid order ID).</a:t>
            </a:r>
            <a:endParaRPr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9950" y="1087450"/>
            <a:ext cx="2279117" cy="336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 txBox="1"/>
          <p:nvPr>
            <p:ph idx="2" type="body"/>
          </p:nvPr>
        </p:nvSpPr>
        <p:spPr>
          <a:xfrm>
            <a:off x="4951500" y="802450"/>
            <a:ext cx="3444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14: Future Work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Completing the remaining features and polishing the UI.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Plans to expand chatbot functionality (e.g., adding more intents, improving support features).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hotel 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related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query as well.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" name="Google Shape;258;p33"/>
          <p:cNvPicPr preferRelativeResize="0"/>
          <p:nvPr/>
        </p:nvPicPr>
        <p:blipFill rotWithShape="1">
          <a:blip r:embed="rId3">
            <a:alphaModFix/>
          </a:blip>
          <a:srcRect b="12337" l="0" r="0" t="12344"/>
          <a:stretch/>
        </p:blipFill>
        <p:spPr>
          <a:xfrm>
            <a:off x="701875" y="540000"/>
            <a:ext cx="3594523" cy="406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