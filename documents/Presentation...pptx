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Nuni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Nunito-bold.fntdata"/><Relationship Id="rId21" Type="http://schemas.openxmlformats.org/officeDocument/2006/relationships/slide" Target="slides/slide16.xml"/><Relationship Id="rId43" Type="http://schemas.openxmlformats.org/officeDocument/2006/relationships/font" Target="fonts/Nunito-regular.fntdata"/><Relationship Id="rId24" Type="http://schemas.openxmlformats.org/officeDocument/2006/relationships/slide" Target="slides/slide19.xml"/><Relationship Id="rId46" Type="http://schemas.openxmlformats.org/officeDocument/2006/relationships/font" Target="fonts/Nunito-boldItalic.fntdata"/><Relationship Id="rId23" Type="http://schemas.openxmlformats.org/officeDocument/2006/relationships/slide" Target="slides/slide18.xml"/><Relationship Id="rId45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a562b835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a562b835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a562b835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a562b835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a562b835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a562b835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a562b8350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a562b835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1785161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1785161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a562b835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a562b835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a562b835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a562b835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a562b835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a562b835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a562b835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a562b835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a562b835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a562b835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a562b835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a562b835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a562b835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a562b835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a562b835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a562b835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a562b835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a562b835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a562b835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6a562b835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a562b835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a562b835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a562b83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a562b83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5a435c724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5a435c72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5a435c724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5a435c724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5a435c724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35a435c72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5a435c724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35a435c724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a626391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a626391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a626391e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a626391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a626391e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a626391e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a562b835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a562b835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a562b835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a562b835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a562b835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6a562b835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6a562b835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6a562b835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a562b835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6a562b835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a562b835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6a562b835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26f3470e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626f3470e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26f3470e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26f3470e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626f3470e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626f3470e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26f3470e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626f3470e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aleha786-collab/Prototype-Assignment--Saleha-Shaukat_BC230424569-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94250" y="1423650"/>
            <a:ext cx="6447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Chatbot Development using Dialogflow</a:t>
            </a:r>
            <a:endParaRPr sz="4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2358619"/>
            <a:ext cx="5361300" cy="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Saleha Shaukat</a:t>
            </a:r>
            <a:endParaRPr sz="14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Group ID: F24PROJECT38A67</a:t>
            </a:r>
            <a:r>
              <a:rPr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(BC230424569)</a:t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238150" y="1296625"/>
            <a:ext cx="6741300" cy="16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link:       </a:t>
            </a:r>
            <a:r>
              <a:rPr lang="en" sz="164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https://github.com/Saleha786-collab/Prototype-Assignment--Saleha-Shaukat_BC230424569-.git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Abdullah Qamar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749100" y="50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1: </a:t>
            </a: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400"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629175" y="1090575"/>
            <a:ext cx="7399200" cy="3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is a smart, AI-powered Hotel and Restaurant Chatbot System developed using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Dialogflow,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Flask (Python)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a responsive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HTML/CSS/JavaScript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front-end. The system is designed to handle both hotel-related services and restaurant-related queries, providing a seamless and interactive experience for users.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hotel side, users can check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availability, make reservations, modify or cancel bookings,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get pricing details through natural conversation. For the restaurant, the chatbot assists with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 inquiries, table reservations, taking orders and general customer support.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Dialogflow powers the Natural Language Processing (NLP) to understand user intents, while Flask acts as the backend framework managing logic, database access, and integrations. The system uses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database operations and supports user login and account features.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enhances operational efficiency by reducing manual workload for hotel and restaurant staff, ensuring 24/7 customer support, and offering a modern, user-friendly solution to hospitality service automation.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49100" y="50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2: Scope </a:t>
            </a:r>
            <a:endParaRPr sz="2400"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629175" y="981500"/>
            <a:ext cx="7399200" cy="38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chatbot handles hotel and restaurant services.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room availability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a reservation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Modify or cancel a booking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room prices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restaurant-related questions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orders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638375" y="913350"/>
            <a:ext cx="75057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838200" marR="3810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help through general FAQs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8382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 their profile (login, register, update info)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designed to automate these tasks using AI and NLP, saving time for both staff and customers.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749100" y="50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3: Objective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612400" y="1191225"/>
            <a:ext cx="7399200" cy="25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develop an AI-based chatbot that can handle hotel and restaurant queries automatically.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allow users to check room availability, make, modify, or cancel bookings through natural conversation.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assist restaurant customers in viewing the menu, placing orders, and getting quick responses to common questions.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staff workload and provide 24/7 customer support through automation.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749100" y="50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Adopted Methodology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612400" y="1191225"/>
            <a:ext cx="3039000" cy="32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-3584" t="0"/>
          <a:stretch/>
        </p:blipFill>
        <p:spPr>
          <a:xfrm>
            <a:off x="4670600" y="1144675"/>
            <a:ext cx="2473149" cy="3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53125" y="1241350"/>
            <a:ext cx="3340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hybrid model allowed us to first complete formal documentation and design using the Waterfall approach, and then build and refine the system iteratively using the Incremental model.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749100" y="4626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1: User Registration</a:t>
            </a:r>
            <a:endParaRPr b="1" sz="3200"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749100" y="1031850"/>
            <a:ext cx="81012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 register an account by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providing their username, email, and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allow personalized bookings and track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user-specific reservations.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025" y="1140375"/>
            <a:ext cx="4861425" cy="31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749100" y="4626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Functional Requirement 2: User Login</a:t>
            </a:r>
            <a:endParaRPr b="1" sz="3900"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749100" y="1031850"/>
            <a:ext cx="81012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Registered users can log in securely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email and password.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authenticate the user before allowing any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reservation, modification, or chatbot interaction.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logged-in users can access the 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secure and personalized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075" y="1102900"/>
            <a:ext cx="4914227" cy="3071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749100" y="3289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3: Check Room Availability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749100" y="827175"/>
            <a:ext cx="8101200" cy="40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chatbot can check availability of rooms based on user’s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check-in, check-out dates, and room type.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help users know if rooms are available before booking.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324" y="827175"/>
            <a:ext cx="2562451" cy="388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749100" y="3289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4: Book a Room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749100" y="827175"/>
            <a:ext cx="8101200" cy="40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 book a room by providing check-in/out dates,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type, and email.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complete a hotel reservation.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675" y="827175"/>
            <a:ext cx="2320375" cy="348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749100" y="3289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5: Modify Room Reservation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749100" y="750975"/>
            <a:ext cx="8101200" cy="40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 modify their booking by changing the dates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room type using the reservation ID.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give flexibility in changing plans after booking.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050" y="779650"/>
            <a:ext cx="2558850" cy="38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749100" y="3289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6: Cancel Reservation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749100" y="903375"/>
            <a:ext cx="8101200" cy="3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 cancel an existing room reservation using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their reservation ID.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release the booking and update room availability.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08" name="Google Shape;2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725" y="903375"/>
            <a:ext cx="2250875" cy="35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749100" y="328925"/>
            <a:ext cx="7505700" cy="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7: See Menu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264500" y="852250"/>
            <a:ext cx="8700600" cy="3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chatbot displays the restaurant's food menu when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user asks for it, allowing them to browse available dishes.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provide customers with an up-to-date list of available food items,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making it easy for them to choose before placing an order.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 rotWithShape="1">
          <a:blip r:embed="rId3">
            <a:alphaModFix/>
          </a:blip>
          <a:srcRect b="0" l="-1970" r="1970" t="0"/>
          <a:stretch/>
        </p:blipFill>
        <p:spPr>
          <a:xfrm>
            <a:off x="5054499" y="928450"/>
            <a:ext cx="1780100" cy="3013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2125" y="910725"/>
            <a:ext cx="1989250" cy="29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749100" y="328925"/>
            <a:ext cx="7505700" cy="9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8: Chatbot Greetings &amp; Farewell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623775" y="1144675"/>
            <a:ext cx="81012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Chatbot gives greetings and says goodbye based on user interactions.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create a friendly, human-like interaction.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23" name="Google Shape;22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850" y="1301125"/>
            <a:ext cx="2078274" cy="31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749100" y="328925"/>
            <a:ext cx="7505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Functional Requirement 9: Table Reservation (Restaurant)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749100" y="1253300"/>
            <a:ext cx="8101200" cy="4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 reserve a restaurant table through the chatbot.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book the table for the user.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30" name="Google Shape;2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650" y="952500"/>
            <a:ext cx="2488074" cy="37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749100" y="328925"/>
            <a:ext cx="75057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10: Cancel Order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9"/>
          <p:cNvSpPr txBox="1"/>
          <p:nvPr>
            <p:ph idx="1" type="body"/>
          </p:nvPr>
        </p:nvSpPr>
        <p:spPr>
          <a:xfrm>
            <a:off x="749100" y="944150"/>
            <a:ext cx="8101200" cy="4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 can cancel their existing hotel or food order by providing the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reservation/order ID.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give customers the flexibility to cancel bookings easily without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staff involvement.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977" y="944150"/>
            <a:ext cx="2294550" cy="36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749100" y="328925"/>
            <a:ext cx="75057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11: </a:t>
            </a: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Item to Existing Order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749100" y="944150"/>
            <a:ext cx="8101200" cy="3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Allows users to add more items to their existing food order through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provide flexibility so users can update their order before it's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finalized.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500" y="1044400"/>
            <a:ext cx="2314300" cy="352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749100" y="328925"/>
            <a:ext cx="75057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12: FAQs Handling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749100" y="944150"/>
            <a:ext cx="8101200" cy="3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chatbot answers frequently asked questions like pricing, location,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timings, menu items, etc.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save time for both users and staff by automatically answering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queries.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51" name="Google Shape;25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075" y="944150"/>
            <a:ext cx="2522326" cy="35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749100" y="328925"/>
            <a:ext cx="75057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13: Remove Item from Existing Order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749100" y="1027700"/>
            <a:ext cx="8101200" cy="36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users to remove specific items from their existing order via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natural language.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give customers the ability to correct or change their order without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starting over.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58" name="Google Shape;25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5275" y="913575"/>
            <a:ext cx="2381249" cy="35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443150" y="497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14: </a:t>
            </a:r>
            <a:endParaRPr b="1" sz="2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Support Flow</a:t>
            </a:r>
            <a:endParaRPr sz="26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680975" y="1347125"/>
            <a:ext cx="5185800" cy="35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device is not working.”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need help with my account.”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technical issue.”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Gathers Issue Details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"Could you please describe the issue you're facing?"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Describes the Issue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"My device won’t turn on."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Troubleshoots or Escalates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"I’m sorry to hear that. Let’s try some basic troubleshooting steps. Have you tried resetting the device by holding the power button for 10 seconds?"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65" name="Google Shape;2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225" y="844150"/>
            <a:ext cx="2380324" cy="354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4"/>
          <p:cNvSpPr txBox="1"/>
          <p:nvPr>
            <p:ph idx="1" type="body"/>
          </p:nvPr>
        </p:nvSpPr>
        <p:spPr>
          <a:xfrm>
            <a:off x="553225" y="913350"/>
            <a:ext cx="7825200" cy="3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Response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"Thanks, it works now!"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Not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"Still not working."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"I’ll create a support ticket for further assistance. Can you confirm your email address and preferred contact method?"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 Confirms Ticket Creation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"Your ticket has been created. Our support team will reach out within 24 hours. Is there anything else you need?"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658975" y="415625"/>
            <a:ext cx="5543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15: </a:t>
            </a: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Closing Conversation Flow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713700" y="1370225"/>
            <a:ext cx="4536300" cy="32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"Bye"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"No, thank you"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"That’s all"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"Thank you for chatting with us today! Have a great day!"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user explicitly says goodbye or indicates no further questions, the chatbot will end the conversation gracefully.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025" y="1065727"/>
            <a:ext cx="2261526" cy="38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16:</a:t>
            </a: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Error Handling &amp; Fallbacks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713700" y="1347750"/>
            <a:ext cx="5776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Unrecognized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“Sorry, I didn’t understand. Could you rephrase?”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Intents Detected: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Clarify which question to address first.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 misformatted data (e.g., invalid order ID).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900" y="725550"/>
            <a:ext cx="2199626" cy="363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</a:t>
            </a: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 17: Room Services 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713700" y="1347750"/>
            <a:ext cx="5158500" cy="31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Bed, Wi-Fi, AC, TV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Two Beds, Wi-Fi, AC, TV, Kettle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King Bed, Wi-Fi, AC, TV, Kettle, Mini Bar, Bathtub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Flow: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"What is included in a suite?"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"Suite includes King Bed, Wi-Fi, AC, TV, Mini Bar, Bathtub."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350" y="763186"/>
            <a:ext cx="2513401" cy="3766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18: </a:t>
            </a: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Room Prices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713700" y="1347750"/>
            <a:ext cx="5158500" cy="31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Room: Rs. 2000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Room: Rs. 6000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Room: Rs. 7000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Dialogflow Flow Example: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"What is the price of Double room?"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price for a Double room is Rs. 6000 per night."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Static reply based on intent logic (no database used).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350" y="713389"/>
            <a:ext cx="2473350" cy="371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 19: Chatbot functions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9"/>
          <p:cNvSpPr txBox="1"/>
          <p:nvPr>
            <p:ph idx="1" type="body"/>
          </p:nvPr>
        </p:nvSpPr>
        <p:spPr>
          <a:xfrm>
            <a:off x="713700" y="1347750"/>
            <a:ext cx="5158500" cy="3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 a room 🏨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room availability 📅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Cancel or modify reservations ❌✏️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or remove items from an order 🍔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FAQs like prices and services 💬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Dialogflow Intent Example: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says: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"What can you do?"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 replies: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"I can help you book rooms, check availability, modify or cancel your bookings, and answer questions about our hotel."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625" y="664201"/>
            <a:ext cx="2481749" cy="391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763600" y="34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case diagram 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0"/>
          <p:cNvSpPr txBox="1"/>
          <p:nvPr>
            <p:ph idx="1" type="body"/>
          </p:nvPr>
        </p:nvSpPr>
        <p:spPr>
          <a:xfrm>
            <a:off x="713700" y="797200"/>
            <a:ext cx="4121400" cy="3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700" y="900725"/>
            <a:ext cx="3118274" cy="37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Entity Relationship Diagram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713700" y="1347750"/>
            <a:ext cx="5776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1"/>
          <p:cNvSpPr txBox="1"/>
          <p:nvPr/>
        </p:nvSpPr>
        <p:spPr>
          <a:xfrm>
            <a:off x="845875" y="1328375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00" y="1018225"/>
            <a:ext cx="6296299" cy="374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D</a:t>
            </a: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iagram 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713700" y="1136325"/>
            <a:ext cx="5828400" cy="3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700" y="1211400"/>
            <a:ext cx="5136300" cy="347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type="title"/>
          </p:nvPr>
        </p:nvSpPr>
        <p:spPr>
          <a:xfrm>
            <a:off x="773950" y="322000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D</a:t>
            </a: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iagram 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626650" y="1094550"/>
            <a:ext cx="4679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00" y="1008900"/>
            <a:ext cx="4829325" cy="373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type="title"/>
          </p:nvPr>
        </p:nvSpPr>
        <p:spPr>
          <a:xfrm>
            <a:off x="773950" y="514175"/>
            <a:ext cx="52644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Diagram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4"/>
          <p:cNvSpPr txBox="1"/>
          <p:nvPr>
            <p:ph idx="1" type="body"/>
          </p:nvPr>
        </p:nvSpPr>
        <p:spPr>
          <a:xfrm>
            <a:off x="233950" y="1347750"/>
            <a:ext cx="8112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50" y="1347750"/>
            <a:ext cx="7731701" cy="2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/>
          <p:nvPr>
            <p:ph type="title"/>
          </p:nvPr>
        </p:nvSpPr>
        <p:spPr>
          <a:xfrm>
            <a:off x="270625" y="511725"/>
            <a:ext cx="30429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 </a:t>
            </a:r>
            <a:r>
              <a:rPr b="1" lang="en" sz="26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5"/>
          <p:cNvSpPr txBox="1"/>
          <p:nvPr>
            <p:ph idx="1" type="body"/>
          </p:nvPr>
        </p:nvSpPr>
        <p:spPr>
          <a:xfrm>
            <a:off x="3363975" y="201325"/>
            <a:ext cx="4982700" cy="4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500" y="201325"/>
            <a:ext cx="2674000" cy="46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 txBox="1"/>
          <p:nvPr>
            <p:ph type="title"/>
          </p:nvPr>
        </p:nvSpPr>
        <p:spPr>
          <a:xfrm>
            <a:off x="270625" y="511725"/>
            <a:ext cx="60243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Interface: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6"/>
          <p:cNvSpPr txBox="1"/>
          <p:nvPr>
            <p:ph idx="1" type="body"/>
          </p:nvPr>
        </p:nvSpPr>
        <p:spPr>
          <a:xfrm>
            <a:off x="352000" y="990575"/>
            <a:ext cx="7485300" cy="3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00" y="990575"/>
            <a:ext cx="7405701" cy="383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270625" y="511725"/>
            <a:ext cx="60243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Gantt chart: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285750" y="990575"/>
            <a:ext cx="85293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054238"/>
            <a:ext cx="8572500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 txBox="1"/>
          <p:nvPr>
            <p:ph type="title"/>
          </p:nvPr>
        </p:nvSpPr>
        <p:spPr>
          <a:xfrm>
            <a:off x="270625" y="511725"/>
            <a:ext cx="60243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and Technology: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8"/>
          <p:cNvSpPr txBox="1"/>
          <p:nvPr>
            <p:ph idx="1" type="body"/>
          </p:nvPr>
        </p:nvSpPr>
        <p:spPr>
          <a:xfrm>
            <a:off x="352000" y="990575"/>
            <a:ext cx="7485300" cy="3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Tools &amp; Frameworks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Flask (Python)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Backend web framework used to build APIs and handle routing.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Dialogflow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Google's NLP platform to handle natural language queries and intents.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SQLAlchemy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ORM (Object Relational Mapper) used for database operations in Python.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Jinja2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Used for rendering dynamic HTML templates with Flask.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PyMySQL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Python library used to connect Flask app to MySQL database.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&amp; NLP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Dialogflow 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For intent detection, entity extraction, and context management.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Relational database to store user data, reservations, room info, etc.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/>
          <p:nvPr>
            <p:ph type="title"/>
          </p:nvPr>
        </p:nvSpPr>
        <p:spPr>
          <a:xfrm>
            <a:off x="270625" y="511725"/>
            <a:ext cx="60243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and Technology: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9"/>
          <p:cNvSpPr txBox="1"/>
          <p:nvPr>
            <p:ph idx="1" type="body"/>
          </p:nvPr>
        </p:nvSpPr>
        <p:spPr>
          <a:xfrm>
            <a:off x="352000" y="990575"/>
            <a:ext cx="7485300" cy="3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Libraries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Bcrypt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Used for secure password hashing during user registration and login.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Flask-Login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Manages user sessions and authentication.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HTML, CSS, JavaScript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For building user-friendly web pages.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