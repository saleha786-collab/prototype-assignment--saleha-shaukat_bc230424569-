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embeddedFontLst>
    <p:embeddedFont>
      <p:font typeface="Nunito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Nunito-regular.fntdata"/><Relationship Id="rId25" Type="http://schemas.openxmlformats.org/officeDocument/2006/relationships/slide" Target="slides/slide20.xml"/><Relationship Id="rId28" Type="http://schemas.openxmlformats.org/officeDocument/2006/relationships/font" Target="fonts/Nunito-italic.fntdata"/><Relationship Id="rId27" Type="http://schemas.openxmlformats.org/officeDocument/2006/relationships/font" Target="fonts/Nuni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Nuni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c6f83aa91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c6f83aa91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c6f83aa91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c6f83aa91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41785161e5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41785161e5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41785161e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41785161e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c6f83aa91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c6f83aa91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35a435c724_0_12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35a435c724_0_12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35a435c724_0_12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35a435c724_0_12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35a435c724_0_1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35a435c724_0_1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35a435c724_0_1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35a435c724_0_1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41785161e5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41785161e5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35a435c724_0_12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335a435c724_0_1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35a435c724_0_12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1" name="Google Shape;201;g335a435c724_0_12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35a435c724_0_12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35a435c724_0_12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335a435c724_0_12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335a435c724_0_12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54cf740b29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54cf740b29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54cf740b2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54cf740b2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35a435c724_0_12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35a435c724_0_12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35a435c724_0_12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35a435c724_0_12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c6f83aa91_0_7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c6f83aa91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fmla="val 153193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4" name="Google Shape;34;p2"/>
          <p:cNvSpPr txBox="1"/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/>
        </p:txBody>
      </p:sp>
      <p:sp>
        <p:nvSpPr>
          <p:cNvPr id="35" name="Google Shape;35;p2"/>
          <p:cNvSpPr txBox="1"/>
          <p:nvPr>
            <p:ph idx="1" type="subTitle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6" name="Google Shape;36;p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7" name="Google Shape;47;p3"/>
          <p:cNvSpPr txBox="1"/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48" name="Google Shape;48;p3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bg>
      <p:bgPr>
        <a:solidFill>
          <a:schemeClr val="dk2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4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54" name="Google Shape;54;p4"/>
          <p:cNvSpPr txBox="1"/>
          <p:nvPr>
            <p:ph idx="1" type="body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4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bg>
      <p:bgPr>
        <a:solidFill>
          <a:schemeClr val="dk2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5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1" name="Google Shape;61;p5"/>
          <p:cNvSpPr txBox="1"/>
          <p:nvPr>
            <p:ph idx="1" type="body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2" name="Google Shape;62;p5"/>
          <p:cNvSpPr txBox="1"/>
          <p:nvPr>
            <p:ph idx="2" type="body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3" name="Google Shape;63;p5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bg>
      <p:bgPr>
        <a:solidFill>
          <a:schemeClr val="dk2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6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69" name="Google Shape;69;p6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solidFill>
          <a:schemeClr val="accent3"/>
        </a:solid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7"/>
          <p:cNvSpPr txBox="1"/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75" name="Google Shape;75;p7"/>
          <p:cNvSpPr txBox="1"/>
          <p:nvPr>
            <p:ph idx="1" type="body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76" name="Google Shape;76;p7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1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fmla="val 153193" name="adj"/>
              </a:avLst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3" name="Google Shape;93;p8"/>
          <p:cNvSpPr txBox="1"/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94" name="Google Shape;94;p8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bg>
      <p:bgPr>
        <a:solidFill>
          <a:schemeClr val="dk2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100" name="Google Shape;100;p9"/>
          <p:cNvSpPr txBox="1"/>
          <p:nvPr>
            <p:ph idx="1" type="subTitle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9"/>
          <p:cNvSpPr txBox="1"/>
          <p:nvPr>
            <p:ph idx="2" type="body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02" name="Google Shape;102;p9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bg>
      <p:bgPr>
        <a:solidFill>
          <a:schemeClr val="accen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rotWithShape="0" algn="ctr" sy="101000">
              <a:srgbClr val="000000">
                <a:alpha val="4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8" name="Google Shape;108;p10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fmla="val 158024" name="adj"/>
              </a:avLst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1"/>
          <p:cNvSpPr txBox="1"/>
          <p:nvPr>
            <p:ph hasCustomPrompt="1" type="title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/>
          <p:nvPr>
            <p:ph idx="1" type="body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1" name="Google Shape;121;p1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hift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Saleha786-collab/Prototype-Assignment--Saleha-Shaukat_BC230424569-.gi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/>
          <p:nvPr>
            <p:ph type="ctrTitle"/>
          </p:nvPr>
        </p:nvSpPr>
        <p:spPr>
          <a:xfrm>
            <a:off x="1494250" y="1423650"/>
            <a:ext cx="6447600" cy="144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44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NLP Chatbot Development using Dialogflow</a:t>
            </a:r>
            <a:endParaRPr sz="4644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13"/>
          <p:cNvSpPr txBox="1"/>
          <p:nvPr>
            <p:ph idx="1" type="subTitle"/>
          </p:nvPr>
        </p:nvSpPr>
        <p:spPr>
          <a:xfrm>
            <a:off x="1891350" y="2358619"/>
            <a:ext cx="5361300" cy="88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440"/>
              <a:buNone/>
            </a:pPr>
            <a:r>
              <a:rPr b="1" lang="en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Name:</a:t>
            </a:r>
            <a:r>
              <a:rPr lang="en" sz="14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Saleha Shaukat</a:t>
            </a:r>
            <a:endParaRPr sz="14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ts val="440"/>
              <a:buNone/>
            </a:pPr>
            <a:r>
              <a:rPr b="1" lang="en" sz="1440">
                <a:solidFill>
                  <a:srgbClr val="212529"/>
                </a:solidFill>
                <a:highlight>
                  <a:schemeClr val="dk1"/>
                </a:highlight>
                <a:latin typeface="Arial"/>
                <a:ea typeface="Arial"/>
                <a:cs typeface="Arial"/>
                <a:sym typeface="Arial"/>
              </a:rPr>
              <a:t>Group ID: F24PROJECT38A67</a:t>
            </a:r>
            <a:r>
              <a:rPr lang="en" sz="1440">
                <a:solidFill>
                  <a:srgbClr val="212529"/>
                </a:solidFill>
                <a:highlight>
                  <a:schemeClr val="dk1"/>
                </a:highlight>
                <a:latin typeface="Arial"/>
                <a:ea typeface="Arial"/>
                <a:cs typeface="Arial"/>
                <a:sym typeface="Arial"/>
              </a:rPr>
              <a:t> (BC230424569)</a:t>
            </a:r>
            <a:endParaRPr sz="1440">
              <a:solidFill>
                <a:srgbClr val="212529"/>
              </a:solidFill>
              <a:highlight>
                <a:schemeClr val="dk1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"/>
              <a:buNone/>
            </a:pPr>
            <a:r>
              <a:t/>
            </a:r>
            <a:endParaRPr sz="1440">
              <a:solidFill>
                <a:srgbClr val="212529"/>
              </a:solidFill>
              <a:highlight>
                <a:schemeClr val="dk1"/>
              </a:highlight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/>
          <p:nvPr>
            <p:ph type="title"/>
          </p:nvPr>
        </p:nvSpPr>
        <p:spPr>
          <a:xfrm>
            <a:off x="1238150" y="1296625"/>
            <a:ext cx="6741300" cy="164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16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GitHub link:       </a:t>
            </a:r>
            <a:r>
              <a:rPr lang="en" sz="164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https://github.com/Saleha786-collab/Prototype-Assignment--Saleha-Shaukat_BC230424569-.git</a:t>
            </a:r>
            <a:endParaRPr sz="16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990"/>
              <a:buNone/>
            </a:pPr>
            <a:r>
              <a:rPr b="1" lang="en" sz="16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Date:</a:t>
            </a:r>
            <a:r>
              <a:rPr lang="en" sz="16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13 March 2025</a:t>
            </a:r>
            <a:endParaRPr sz="16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990"/>
              <a:buNone/>
            </a:pPr>
            <a:r>
              <a:rPr b="1" lang="en" sz="16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Supervisor:</a:t>
            </a:r>
            <a:r>
              <a:rPr lang="en" sz="164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Abdullah Qamar</a:t>
            </a:r>
            <a:endParaRPr sz="164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5"/>
          <p:cNvSpPr txBox="1"/>
          <p:nvPr>
            <p:ph type="title"/>
          </p:nvPr>
        </p:nvSpPr>
        <p:spPr>
          <a:xfrm>
            <a:off x="749100" y="613625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1: </a:t>
            </a:r>
            <a:r>
              <a:rPr b="1" lang="en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Introduction:</a:t>
            </a:r>
            <a:endParaRPr sz="2400"/>
          </a:p>
        </p:txBody>
      </p:sp>
      <p:sp>
        <p:nvSpPr>
          <p:cNvPr id="140" name="Google Shape;140;p15"/>
          <p:cNvSpPr txBox="1"/>
          <p:nvPr>
            <p:ph idx="1" type="body"/>
          </p:nvPr>
        </p:nvSpPr>
        <p:spPr>
          <a:xfrm>
            <a:off x="821825" y="1225350"/>
            <a:ext cx="7738800" cy="316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Purpose: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chatbot is designed to enhance customer service for a restaurant by automating responses to common customer inquiries, reducing wait times, and providing real-time order updates and product information.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18"/>
              <a:buFont typeface="Arial"/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Scope: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Features: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Greeting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Order Status Check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Product-Related FAQs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Support Ticket Creation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Conversation Closure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Authentication and Authorization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Profile Management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6"/>
          <p:cNvSpPr txBox="1"/>
          <p:nvPr>
            <p:ph type="title"/>
          </p:nvPr>
        </p:nvSpPr>
        <p:spPr>
          <a:xfrm>
            <a:off x="749100" y="613625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2: Explanation of Features</a:t>
            </a:r>
            <a:endParaRPr sz="2400"/>
          </a:p>
        </p:txBody>
      </p:sp>
      <p:sp>
        <p:nvSpPr>
          <p:cNvPr id="146" name="Google Shape;146;p16"/>
          <p:cNvSpPr txBox="1"/>
          <p:nvPr>
            <p:ph idx="1" type="body"/>
          </p:nvPr>
        </p:nvSpPr>
        <p:spPr>
          <a:xfrm>
            <a:off x="749100" y="1290800"/>
            <a:ext cx="7738800" cy="316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Greeting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chatbot greets users with a friendly message to set a welcoming tone for the conversation.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Order Status Check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Users can check their order status in real-time, with updates on delivery or pickup times for better transparency.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Product-Related FAQs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chatbot answers common questions about the product stock and product price, 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providing quick and easy information.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Support Ticket Creation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7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7"/>
          <p:cNvSpPr txBox="1"/>
          <p:nvPr>
            <p:ph idx="1" type="body"/>
          </p:nvPr>
        </p:nvSpPr>
        <p:spPr>
          <a:xfrm>
            <a:off x="638375" y="913350"/>
            <a:ext cx="7505700" cy="365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For complex issues, users can create support tickets that are escalated to human agents for further assistance.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latin typeface="Arial"/>
                <a:ea typeface="Arial"/>
                <a:cs typeface="Arial"/>
                <a:sym typeface="Arial"/>
              </a:rPr>
              <a:t>Conversation Closure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The chatbot politely ends conversations, ensuring users feel satisfied and informed before closing the interaction.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latin typeface="Arial"/>
                <a:ea typeface="Arial"/>
                <a:cs typeface="Arial"/>
                <a:sym typeface="Arial"/>
              </a:rPr>
              <a:t>Authentication and Authorization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: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Users will register and log in, with role-based access control to provide different user types with appropriate permissions.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latin typeface="Arial"/>
                <a:ea typeface="Arial"/>
                <a:cs typeface="Arial"/>
                <a:sym typeface="Arial"/>
              </a:rPr>
              <a:t>Profile Management</a:t>
            </a:r>
            <a:r>
              <a:rPr lang="en"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>
                <a:latin typeface="Arial"/>
                <a:ea typeface="Arial"/>
                <a:cs typeface="Arial"/>
                <a:sym typeface="Arial"/>
              </a:rPr>
            </a:br>
            <a:endParaRPr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Arial"/>
              <a:buChar char="●"/>
            </a:pPr>
            <a:r>
              <a:rPr lang="en">
                <a:latin typeface="Arial"/>
                <a:ea typeface="Arial"/>
                <a:cs typeface="Arial"/>
                <a:sym typeface="Arial"/>
              </a:rPr>
              <a:t>Users can manage their profiles (view and update personal information), and the chatbot will retrieve relevant user data based on their profile.</a:t>
            </a:r>
            <a:endParaRPr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8"/>
          <p:cNvSpPr txBox="1"/>
          <p:nvPr>
            <p:ph type="title"/>
          </p:nvPr>
        </p:nvSpPr>
        <p:spPr>
          <a:xfrm>
            <a:off x="64590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3: Database Schema</a:t>
            </a:r>
            <a:endParaRPr sz="2400"/>
          </a:p>
        </p:txBody>
      </p:sp>
      <p:sp>
        <p:nvSpPr>
          <p:cNvPr id="158" name="Google Shape;158;p18"/>
          <p:cNvSpPr txBox="1"/>
          <p:nvPr>
            <p:ph idx="2" type="body"/>
          </p:nvPr>
        </p:nvSpPr>
        <p:spPr>
          <a:xfrm>
            <a:off x="466325" y="1550600"/>
            <a:ext cx="5539200" cy="25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Overview: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The database is structured to support multiple functionalities.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Tables: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Users, Orders, Products, Support Tickets.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Key Constraints: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Ensure data consistency and proper relationships.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Relationship Explanation: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Describes how the tables link (e.g., Orders linked to Users, Products linked to Orders).</a:t>
            </a:r>
            <a:endParaRPr/>
          </a:p>
        </p:txBody>
      </p:sp>
      <p:pic>
        <p:nvPicPr>
          <p:cNvPr id="159" name="Google Shape;15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18275" y="927700"/>
            <a:ext cx="2774594" cy="3288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9"/>
          <p:cNvSpPr txBox="1"/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38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4: Dialogflow Integration </a:t>
            </a:r>
            <a:endParaRPr sz="2538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9"/>
          <p:cNvSpPr txBox="1"/>
          <p:nvPr>
            <p:ph idx="2" type="body"/>
          </p:nvPr>
        </p:nvSpPr>
        <p:spPr>
          <a:xfrm>
            <a:off x="819150" y="1706300"/>
            <a:ext cx="5859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Intents and Entities: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Intents: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Group user queries (e.g., order status, product inquiry).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Entities: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Extract specific details (e.g., product name, order ID).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Flow Design: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user input is mapped to chatbot actions.</a:t>
            </a:r>
            <a:endParaRPr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0"/>
          <p:cNvSpPr txBox="1"/>
          <p:nvPr>
            <p:ph type="title"/>
          </p:nvPr>
        </p:nvSpPr>
        <p:spPr>
          <a:xfrm>
            <a:off x="667175" y="738850"/>
            <a:ext cx="5487600" cy="93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5: Chatbot Flow - Greeting &amp; Onboarding</a:t>
            </a:r>
            <a:endParaRPr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0"/>
          <p:cNvSpPr txBox="1"/>
          <p:nvPr>
            <p:ph idx="2" type="body"/>
          </p:nvPr>
        </p:nvSpPr>
        <p:spPr>
          <a:xfrm>
            <a:off x="556475" y="1719325"/>
            <a:ext cx="5391600" cy="211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Inputs:</a:t>
            </a: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“Hello,” “Hi,” “Hey”</a:t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Chatbot Response:</a:t>
            </a: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“Hello! Welcome to [Restaurant Name]. How can I assist you today?”</a:t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Logic/Condition:</a:t>
            </a: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If no input after a few seconds, prompt user again.</a:t>
            </a:r>
            <a:endParaRPr sz="52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/>
          </a:p>
        </p:txBody>
      </p:sp>
      <p:pic>
        <p:nvPicPr>
          <p:cNvPr id="172" name="Google Shape;17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38225" y="415150"/>
            <a:ext cx="2657775" cy="3997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1"/>
          <p:cNvSpPr txBox="1"/>
          <p:nvPr>
            <p:ph type="title"/>
          </p:nvPr>
        </p:nvSpPr>
        <p:spPr>
          <a:xfrm>
            <a:off x="819150" y="845600"/>
            <a:ext cx="74541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b="1" lang="en" sz="222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6: Chatbot Flow - Main Menu / Intent Identification</a:t>
            </a:r>
            <a:endParaRPr b="1" sz="222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1"/>
          <p:cNvSpPr txBox="1"/>
          <p:nvPr>
            <p:ph idx="2" type="body"/>
          </p:nvPr>
        </p:nvSpPr>
        <p:spPr>
          <a:xfrm>
            <a:off x="819150" y="1706300"/>
            <a:ext cx="5859900" cy="195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72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Inputs:</a:t>
            </a:r>
            <a:r>
              <a:rPr lang="en" sz="172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“I want to check my order status,” “Product price?”</a:t>
            </a:r>
            <a:endParaRPr sz="172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72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Chatbot Response:</a:t>
            </a:r>
            <a:r>
              <a:rPr lang="en" sz="172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Requests order ID or product details.</a:t>
            </a:r>
            <a:endParaRPr sz="172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72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Logic:</a:t>
            </a:r>
            <a:r>
              <a:rPr lang="en" sz="1729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Identifies the user's intent and routes them to the relevant flow (Order Status, Product Info, Support).</a:t>
            </a:r>
            <a:endParaRPr sz="1729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8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2"/>
          <p:cNvSpPr txBox="1"/>
          <p:nvPr>
            <p:ph type="title"/>
          </p:nvPr>
        </p:nvSpPr>
        <p:spPr>
          <a:xfrm>
            <a:off x="794525" y="492500"/>
            <a:ext cx="7454100" cy="70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7: Order Status Flow</a:t>
            </a:r>
            <a:endParaRPr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2"/>
          <p:cNvSpPr txBox="1"/>
          <p:nvPr>
            <p:ph idx="2" type="body"/>
          </p:nvPr>
        </p:nvSpPr>
        <p:spPr>
          <a:xfrm>
            <a:off x="684625" y="1139725"/>
            <a:ext cx="5394900" cy="354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Possible Inputs:</a:t>
            </a:r>
            <a:endParaRPr b="1"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“I want to check my order status.”</a:t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“Where is my order?”</a:t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“My order is delayed.”</a:t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“Order status?”</a:t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Asks for Details</a:t>
            </a:r>
            <a:endParaRPr b="1"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</a:t>
            </a: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“Sure! Let me check your order status. Could you please provide your Order ID or email address associated with the order?”</a:t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Fetches and Displays Order Status</a:t>
            </a:r>
            <a:endParaRPr b="1"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chatbot uses the provided </a:t>
            </a: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Order ID</a:t>
            </a: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email address</a:t>
            </a: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 retrieve order information from the database.</a:t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b="1"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</a:t>
            </a:r>
            <a:r>
              <a:rPr lang="en" sz="5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“Your order is currently [Order Status]. Expected delivery time is [Time]. Is there anything else I can help you with?”</a:t>
            </a:r>
            <a:endParaRPr sz="5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5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5" name="Google Shape;185;p22"/>
          <p:cNvPicPr preferRelativeResize="0"/>
          <p:nvPr/>
        </p:nvPicPr>
        <p:blipFill rotWithShape="1">
          <a:blip r:embed="rId3">
            <a:alphaModFix/>
          </a:blip>
          <a:srcRect b="0" l="-12422" r="0" t="0"/>
          <a:stretch/>
        </p:blipFill>
        <p:spPr>
          <a:xfrm>
            <a:off x="5816675" y="607175"/>
            <a:ext cx="2791750" cy="379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3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23"/>
          <p:cNvSpPr txBox="1"/>
          <p:nvPr>
            <p:ph idx="1" type="body"/>
          </p:nvPr>
        </p:nvSpPr>
        <p:spPr>
          <a:xfrm>
            <a:off x="638375" y="913350"/>
            <a:ext cx="7633500" cy="365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Next Steps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User's Response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Option 1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End the conversation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“No, that’s all.”</a:t>
            </a:r>
            <a:b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“Thank you for using our service! Have a great day.”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Option 2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Ask another question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“I have another question.”</a:t>
            </a:r>
            <a:b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Routes the conversation to the appropriate flow (e.g., </a:t>
            </a: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 Inquiry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Support Ticket Creation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).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 txBox="1"/>
          <p:nvPr>
            <p:ph type="title"/>
          </p:nvPr>
        </p:nvSpPr>
        <p:spPr>
          <a:xfrm>
            <a:off x="819150" y="474625"/>
            <a:ext cx="48498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8: Product Information Flow</a:t>
            </a:r>
            <a:endParaRPr sz="2400"/>
          </a:p>
        </p:txBody>
      </p:sp>
      <p:sp>
        <p:nvSpPr>
          <p:cNvPr id="197" name="Google Shape;197;p24"/>
          <p:cNvSpPr txBox="1"/>
          <p:nvPr>
            <p:ph idx="1" type="body"/>
          </p:nvPr>
        </p:nvSpPr>
        <p:spPr>
          <a:xfrm>
            <a:off x="778150" y="948825"/>
            <a:ext cx="48168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Possible Inputs: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“I have a question about a product.”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“Is product X in stock?”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”How much is product Y?”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Requests Product Details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Bot: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"Which product would you like to know more about?"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Specifies Product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User: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"I want to know if the [Product Name] is in stock."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Fetches Product Data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If In Stock:</a:t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13716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8" name="Google Shape;19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88350" y="1047350"/>
            <a:ext cx="2384876" cy="36810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type="title"/>
          </p:nvPr>
        </p:nvSpPr>
        <p:spPr>
          <a:xfrm>
            <a:off x="819150" y="2026200"/>
            <a:ext cx="7505700" cy="242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4: Confirmation &amp; Next Step</a:t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Possible User Responses:</a:t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■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Yes, add to my cart:</a:t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Bot: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"Great! It’s in your cart. Anything else you need?" → Return to Main Menu or end conversation.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■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No, just checking:</a:t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Bot:</a:t>
            </a: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"Understood. Anything else I can help you with?" → Return to Main Menu.</a:t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5"/>
          <p:cNvSpPr txBox="1"/>
          <p:nvPr/>
        </p:nvSpPr>
        <p:spPr>
          <a:xfrm>
            <a:off x="879750" y="679550"/>
            <a:ext cx="7132500" cy="130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2" marL="13716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b="1" lang="en" sz="1300"/>
              <a:t>Bot:</a:t>
            </a:r>
            <a:r>
              <a:rPr lang="en" sz="1300"/>
              <a:t> "The [Product Name] is currently available/in stock. It costs [Price]. Would you like to add it to your cart?"</a:t>
            </a:r>
            <a:endParaRPr sz="1300"/>
          </a:p>
          <a:p>
            <a:pPr indent="-3111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" sz="1300"/>
              <a:t>If Out of Stock:</a:t>
            </a:r>
            <a:endParaRPr b="1" sz="1300"/>
          </a:p>
          <a:p>
            <a:pPr indent="-31115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en" sz="1300"/>
              <a:t>Bot:</a:t>
            </a:r>
            <a:r>
              <a:rPr lang="en" sz="1300"/>
              <a:t> "Currently, the [Product Name] is out of stock. Would you like me to notify you when it’s back?"</a:t>
            </a:r>
            <a:endParaRPr sz="13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6"/>
          <p:cNvSpPr txBox="1"/>
          <p:nvPr>
            <p:ph type="title"/>
          </p:nvPr>
        </p:nvSpPr>
        <p:spPr>
          <a:xfrm>
            <a:off x="819150" y="476075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9: Technical Support Flow</a:t>
            </a:r>
            <a:endParaRPr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6"/>
          <p:cNvSpPr txBox="1"/>
          <p:nvPr>
            <p:ph idx="1" type="body"/>
          </p:nvPr>
        </p:nvSpPr>
        <p:spPr>
          <a:xfrm>
            <a:off x="630850" y="977325"/>
            <a:ext cx="5185800" cy="38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Possible Inputs: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“My device is not working.”</a:t>
            </a:r>
            <a:b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“I need help with my account.”</a:t>
            </a:r>
            <a:b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“I have a technical issue.”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Gathers Issue Details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"Could you please describe the issue you're facing?"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Describes the Issue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"My device won’t turn on."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Troubleshoots or Escalates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"I’m sorry to hear that. Let’s try some basic troubleshooting steps. Have you tried resetting the device by holding the power button for 10 seconds?"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500"/>
          </a:p>
        </p:txBody>
      </p:sp>
      <p:pic>
        <p:nvPicPr>
          <p:cNvPr id="211" name="Google Shape;2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85475" y="581025"/>
            <a:ext cx="2766001" cy="41234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7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553225" y="913350"/>
            <a:ext cx="7825200" cy="3642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Response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If Resolved: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"Thanks, it works now!"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"Glad to hear! Anything else I can help with?" → Return to Main Menu or end conversation.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"Glad to hear! Anything else I can help with?" → Return to Main Menu or end conversation.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 Not Resolved: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"Still not working."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"I’ll create a support ticket for further assistance. Can you confirm your email address and preferred contact method?"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Bot Confirms Ticket Creation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"Your ticket has been created. Our support team will reach out within 24 hours. Is there anything else you need?" → Return to Main Menu or end conversation.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8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8"/>
          <p:cNvSpPr txBox="1"/>
          <p:nvPr>
            <p:ph idx="1" type="body"/>
          </p:nvPr>
        </p:nvSpPr>
        <p:spPr>
          <a:xfrm>
            <a:off x="553225" y="496700"/>
            <a:ext cx="7825200" cy="405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10: Table Reservation</a:t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says they want to book a table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Example: </a:t>
            </a: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“I want to reserve a table.”</a:t>
            </a:r>
            <a:b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i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asks questions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What date?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What time?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How many people?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answers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Example: </a:t>
            </a: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“26 March, 6pm, 2 people.”</a:t>
            </a:r>
            <a:b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i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checks if the info is correct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Checks date, time, and number of guests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saves the booking in the database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gives a confirmation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Example: </a:t>
            </a:r>
            <a:r>
              <a:rPr i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“Your table is booked for 2 people on 26 March at 6pm.”</a:t>
            </a:r>
            <a:endParaRPr i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4" name="Google Shape;2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18900" y="609475"/>
            <a:ext cx="2379774" cy="3579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9"/>
          <p:cNvSpPr txBox="1"/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9"/>
          <p:cNvSpPr txBox="1"/>
          <p:nvPr>
            <p:ph idx="1" type="body"/>
          </p:nvPr>
        </p:nvSpPr>
        <p:spPr>
          <a:xfrm>
            <a:off x="553225" y="528250"/>
            <a:ext cx="7825200" cy="402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11: Order taking flow</a:t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says they want to order something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Example: “I want to order mango juice.”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asks for quantity (if missing)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“How many units would you like?”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tells the quantity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Example: “2”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checks product availability in the database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If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available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continue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If </a:t>
            </a: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out of stock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inform the user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saves the order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Creates a new order with product and quantity</a:t>
            </a:r>
            <a:b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Bot confirms the order</a:t>
            </a:r>
            <a:b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→ Example: “Your order for 2 mango juice is confirmed. Order ID: 7”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1" name="Google Shape;231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15078" y="609000"/>
            <a:ext cx="2690825" cy="3985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/>
          <p:cNvSpPr txBox="1"/>
          <p:nvPr>
            <p:ph type="title"/>
          </p:nvPr>
        </p:nvSpPr>
        <p:spPr>
          <a:xfrm>
            <a:off x="658975" y="415625"/>
            <a:ext cx="55437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Slide 12: Closing Conversation Flow</a:t>
            </a:r>
            <a:endParaRPr b="1"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30"/>
          <p:cNvSpPr txBox="1"/>
          <p:nvPr>
            <p:ph idx="1" type="body"/>
          </p:nvPr>
        </p:nvSpPr>
        <p:spPr>
          <a:xfrm>
            <a:off x="713700" y="1011500"/>
            <a:ext cx="4536300" cy="372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User Possible Inputs: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"Bye"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"No, thank you"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"That’s all"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Chatbot Response: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"Thank you for chatting with us today! Have a great day!"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Logic/Condition:</a:t>
            </a:r>
            <a:endParaRPr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○"/>
            </a:pPr>
            <a:r>
              <a:rPr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If the user explicitly says goodbye or indicates no further questions, the chatbot will end the conversation gracefully.</a:t>
            </a:r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8" name="Google Shape;238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65875" y="906375"/>
            <a:ext cx="2529050" cy="3810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1"/>
          <p:cNvSpPr txBox="1"/>
          <p:nvPr>
            <p:ph type="title"/>
          </p:nvPr>
        </p:nvSpPr>
        <p:spPr>
          <a:xfrm>
            <a:off x="773950" y="514175"/>
            <a:ext cx="5264400" cy="954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46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Slide 13: Error Handling &amp; Fallbacks</a:t>
            </a:r>
            <a:endParaRPr sz="2466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31"/>
          <p:cNvSpPr txBox="1"/>
          <p:nvPr>
            <p:ph idx="1" type="body"/>
          </p:nvPr>
        </p:nvSpPr>
        <p:spPr>
          <a:xfrm>
            <a:off x="713700" y="1167500"/>
            <a:ext cx="5776200" cy="244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Unrecognized Input: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“Sorry, I didn’t understand. Could you rephrase?”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Multiple Intents Detected: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Clarify which question to address first.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b="1"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Invalid Input:</a:t>
            </a: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Handle misformatted data (e.g., invalid order ID).</a:t>
            </a:r>
            <a:endParaRPr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5" name="Google Shape;245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39950" y="1087450"/>
            <a:ext cx="2279117" cy="3369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2"/>
          <p:cNvSpPr txBox="1"/>
          <p:nvPr>
            <p:ph idx="2" type="body"/>
          </p:nvPr>
        </p:nvSpPr>
        <p:spPr>
          <a:xfrm>
            <a:off x="4951500" y="802450"/>
            <a:ext cx="3444900" cy="209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2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Slide 14: Future Work</a:t>
            </a:r>
            <a:endParaRPr sz="22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Completing the remaining features and polishing the UI.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Char char="●"/>
            </a:pPr>
            <a:r>
              <a:rPr lang="en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Plans to expand chatbot functionality (e.g., adding more intents, improving support features).</a:t>
            </a:r>
            <a:endParaRPr/>
          </a:p>
        </p:txBody>
      </p:sp>
      <p:pic>
        <p:nvPicPr>
          <p:cNvPr id="251" name="Google Shape;251;p32"/>
          <p:cNvPicPr preferRelativeResize="0"/>
          <p:nvPr/>
        </p:nvPicPr>
        <p:blipFill rotWithShape="1">
          <a:blip r:embed="rId3">
            <a:alphaModFix/>
          </a:blip>
          <a:srcRect b="12337" l="0" r="0" t="12344"/>
          <a:stretch/>
        </p:blipFill>
        <p:spPr>
          <a:xfrm>
            <a:off x="701875" y="540000"/>
            <a:ext cx="3594523" cy="40635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